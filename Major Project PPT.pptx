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p:nvPr>
        </p:nvSpPr>
        <p:spPr>
          <a:xfrm>
            <a:off x="1600200" y="1261872"/>
            <a:ext cx="7638222" cy="2852928"/>
          </a:xfrm>
        </p:spPr>
        <p:txBody>
          <a:bodyPr anchor="b">
            <a:normAutofit/>
          </a:bodyPr>
          <a:lstStyle>
            <a:lvl1pPr algn="l">
              <a:lnSpc>
                <a:spcPct val="130000"/>
              </a:lnSpc>
              <a:defRPr sz="3600" spc="1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p:nvPr>
        </p:nvSpPr>
        <p:spPr>
          <a:xfrm>
            <a:off x="1600200" y="4681728"/>
            <a:ext cx="7638222" cy="929296"/>
          </a:xfrm>
          <a:prstGeom prst="rect">
            <a:avLst/>
          </a:prstGeom>
        </p:spPr>
        <p:txBody>
          <a:bodyPr>
            <a:normAutofit/>
          </a:bodyPr>
          <a:lstStyle>
            <a:lvl1pPr marL="0" indent="0" algn="l">
              <a:lnSpc>
                <a:spcPct val="130000"/>
              </a:lnSpc>
              <a:buNone/>
              <a:defRPr sz="1600" b="1"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16871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696155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6B4C32-F19C-44F3-8EF8-1F506D74DD7A}"/>
              </a:ext>
            </a:extLst>
          </p:cNvPr>
          <p:cNvSpPr>
            <a:spLocks noGrp="1"/>
          </p:cNvSpPr>
          <p:nvPr>
            <p:ph type="title"/>
          </p:nvPr>
        </p:nvSpPr>
        <p:spPr>
          <a:xfrm>
            <a:off x="3649192" y="1709738"/>
            <a:ext cx="4893617" cy="2553893"/>
          </a:xfrm>
        </p:spPr>
        <p:txBody>
          <a:bodyPr anchor="b">
            <a:normAutofit/>
          </a:bodyPr>
          <a:lstStyle>
            <a:lvl1pPr algn="ct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p:nvPr>
        </p:nvSpPr>
        <p:spPr>
          <a:xfrm>
            <a:off x="4062249" y="4540468"/>
            <a:ext cx="4067503" cy="1154037"/>
          </a:xfrm>
          <a:prstGeom prst="rect">
            <a:avLst/>
          </a:prstGeom>
        </p:spPr>
        <p:txBody>
          <a:bodyPr>
            <a:normAutofit/>
          </a:bodyPr>
          <a:lstStyle>
            <a:lvl1pPr marL="0" indent="0" algn="ctr">
              <a:buNone/>
              <a:defRPr sz="1600" b="1" cap="all" spc="600" baseline="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133348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317813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p:nvPr>
        </p:nvSpPr>
        <p:spPr>
          <a:xfrm>
            <a:off x="811460" y="369168"/>
            <a:ext cx="10458729" cy="143981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18238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330439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572818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641581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839DEF4-262F-4ACF-9B29-3D4B819E7065}"/>
              </a:ext>
            </a:extLst>
          </p:cNvPr>
          <p:cNvSpPr>
            <a:spLocks noGrp="1"/>
          </p:cNvSpPr>
          <p:nvPr>
            <p:ph type="pic" idx="1"/>
          </p:nvPr>
        </p:nvSpPr>
        <p:spPr>
          <a:xfrm>
            <a:off x="5353969" y="987425"/>
            <a:ext cx="5694503"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516281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7627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E6171E64-FE02-4DE5-B72F-53C3706641C3}" type="datetimeFigureOut">
              <a:rPr lang="en-US" smtClean="0"/>
              <a:t>12/10/2024</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78779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E6171E64-FE02-4DE5-B72F-53C3706641C3}" type="datetimeFigureOut">
              <a:rPr lang="en-US" smtClean="0"/>
              <a:t>12/10/2024</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13">
                <a:extLst>
                  <a:ext uri="{96DAC541-7B7A-43D3-8B79-37D633B846F1}">
                    <asvg:svgBlip xmlns:asvg="http://schemas.microsoft.com/office/drawing/2016/SVG/main" r:embed="rId1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8023699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4" r:id="rId7"/>
    <p:sldLayoutId id="2147483710" r:id="rId8"/>
    <p:sldLayoutId id="2147483711" r:id="rId9"/>
    <p:sldLayoutId id="2147483712" r:id="rId10"/>
    <p:sldLayoutId id="2147483713" r:id="rId11"/>
  </p:sldLayoutIdLst>
  <p:txStyles>
    <p:title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4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C321AD-2C92-446F-AF58-8CAA634BF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EA855B9-EE27-4441-846C-35DF1C648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Crescent moon in the night sky">
            <a:extLst>
              <a:ext uri="{FF2B5EF4-FFF2-40B4-BE49-F238E27FC236}">
                <a16:creationId xmlns:a16="http://schemas.microsoft.com/office/drawing/2014/main" id="{B6AADED9-8E82-7EEE-B5CE-438EEE3BB2C3}"/>
              </a:ext>
            </a:extLst>
          </p:cNvPr>
          <p:cNvPicPr>
            <a:picLocks noChangeAspect="1"/>
          </p:cNvPicPr>
          <p:nvPr/>
        </p:nvPicPr>
        <p:blipFill>
          <a:blip r:embed="rId2">
            <a:alphaModFix amt="50000"/>
          </a:blip>
          <a:srcRect t="5156" b="10574"/>
          <a:stretch/>
        </p:blipFill>
        <p:spPr>
          <a:xfrm>
            <a:off x="20" y="10"/>
            <a:ext cx="12191979" cy="6857989"/>
          </a:xfrm>
          <a:prstGeom prst="rect">
            <a:avLst/>
          </a:prstGeom>
        </p:spPr>
      </p:pic>
      <p:sp>
        <p:nvSpPr>
          <p:cNvPr id="4" name="Freeform 2">
            <a:extLst>
              <a:ext uri="{FF2B5EF4-FFF2-40B4-BE49-F238E27FC236}">
                <a16:creationId xmlns:a16="http://schemas.microsoft.com/office/drawing/2014/main" id="{51293B24-F231-A23A-7898-6A15529E718B}"/>
              </a:ext>
            </a:extLst>
          </p:cNvPr>
          <p:cNvSpPr>
            <a:spLocks noGrp="1"/>
          </p:cNvSpPr>
          <p:nvPr>
            <p:ph type="ctrTitle"/>
          </p:nvPr>
        </p:nvSpPr>
        <p:spPr>
          <a:xfrm>
            <a:off x="4426526" y="1261872"/>
            <a:ext cx="7279885" cy="2852928"/>
          </a:xfrm>
          <a:custGeom>
            <a:avLst/>
            <a:gdLst/>
            <a:ahLst/>
            <a:cxnLst/>
            <a:rect l="l" t="t" r="r" b="b"/>
            <a:pathLst>
              <a:path w="18288000" h="10287000">
                <a:moveTo>
                  <a:pt x="0" y="0"/>
                </a:moveTo>
                <a:lnTo>
                  <a:pt x="18288000" y="0"/>
                </a:lnTo>
                <a:lnTo>
                  <a:pt x="18288000" y="10287000"/>
                </a:lnTo>
                <a:lnTo>
                  <a:pt x="0" y="10287000"/>
                </a:lnTo>
                <a:lnTo>
                  <a:pt x="0" y="0"/>
                </a:lnTo>
                <a:close/>
              </a:path>
            </a:pathLst>
          </a:custGeom>
        </p:spPr>
        <p:txBody>
          <a:bodyPr>
            <a:normAutofit/>
          </a:bodyPr>
          <a:lstStyle/>
          <a:p>
            <a:pPr algn="r">
              <a:lnSpc>
                <a:spcPct val="120000"/>
              </a:lnSpc>
            </a:pPr>
            <a:r>
              <a:rPr lang="en-US" sz="2800" b="1" dirty="0">
                <a:solidFill>
                  <a:srgbClr val="FFFFFF"/>
                </a:solidFill>
                <a:latin typeface="Times New Roman" panose="02020603050405020304" pitchFamily="18" charset="0"/>
                <a:ea typeface="Tex Gyre Termes Bold"/>
                <a:cs typeface="Times New Roman" panose="02020603050405020304" pitchFamily="18" charset="0"/>
                <a:sym typeface="Tex Gyre Termes Bold"/>
              </a:rPr>
              <a:t>Hazardous Asteroid prediction using ML models</a:t>
            </a:r>
            <a:br>
              <a:rPr lang="en-US" sz="2800" b="1" dirty="0">
                <a:solidFill>
                  <a:srgbClr val="FFFFFF"/>
                </a:solidFill>
                <a:latin typeface="Tex Gyre Termes Bold"/>
                <a:ea typeface="Tex Gyre Termes Bold"/>
                <a:cs typeface="Tex Gyre Termes Bold"/>
                <a:sym typeface="Tex Gyre Termes Bold"/>
              </a:rPr>
            </a:br>
            <a:endParaRPr lang="en-US" sz="2800" dirty="0">
              <a:solidFill>
                <a:srgbClr val="FFFFFF"/>
              </a:solidFill>
            </a:endParaRPr>
          </a:p>
        </p:txBody>
      </p:sp>
      <p:sp>
        <p:nvSpPr>
          <p:cNvPr id="8" name="Subtitle 7">
            <a:extLst>
              <a:ext uri="{FF2B5EF4-FFF2-40B4-BE49-F238E27FC236}">
                <a16:creationId xmlns:a16="http://schemas.microsoft.com/office/drawing/2014/main" id="{D74E4C3F-C422-6A1E-42FD-D8C3D86FCED2}"/>
              </a:ext>
            </a:extLst>
          </p:cNvPr>
          <p:cNvSpPr>
            <a:spLocks noGrp="1"/>
          </p:cNvSpPr>
          <p:nvPr>
            <p:ph type="subTitle" idx="1"/>
          </p:nvPr>
        </p:nvSpPr>
        <p:spPr>
          <a:xfrm>
            <a:off x="4779818" y="4681728"/>
            <a:ext cx="6902550" cy="929296"/>
          </a:xfrm>
        </p:spPr>
        <p:txBody>
          <a:bodyPr>
            <a:normAutofit fontScale="70000" lnSpcReduction="20000"/>
          </a:bodyPr>
          <a:lstStyle/>
          <a:p>
            <a:pPr algn="r"/>
            <a:r>
              <a:rPr lang="en-US" dirty="0">
                <a:solidFill>
                  <a:srgbClr val="FFFFFF"/>
                </a:solidFill>
              </a:rPr>
              <a:t>Vishanth Reddy </a:t>
            </a:r>
            <a:r>
              <a:rPr lang="en-US" dirty="0" err="1">
                <a:solidFill>
                  <a:srgbClr val="FFFFFF"/>
                </a:solidFill>
              </a:rPr>
              <a:t>battula</a:t>
            </a:r>
            <a:endParaRPr lang="en-US" dirty="0">
              <a:solidFill>
                <a:srgbClr val="FFFFFF"/>
              </a:solidFill>
            </a:endParaRPr>
          </a:p>
          <a:p>
            <a:pPr algn="r"/>
            <a:r>
              <a:rPr lang="en-US" dirty="0">
                <a:solidFill>
                  <a:srgbClr val="FFFFFF"/>
                </a:solidFill>
              </a:rPr>
              <a:t>Vignesh </a:t>
            </a:r>
            <a:r>
              <a:rPr lang="en-US" dirty="0" err="1">
                <a:solidFill>
                  <a:srgbClr val="FFFFFF"/>
                </a:solidFill>
              </a:rPr>
              <a:t>Matam</a:t>
            </a:r>
            <a:endParaRPr lang="en-US" dirty="0">
              <a:solidFill>
                <a:srgbClr val="FFFFFF"/>
              </a:solidFill>
            </a:endParaRPr>
          </a:p>
          <a:p>
            <a:pPr algn="r"/>
            <a:r>
              <a:rPr lang="en-US" dirty="0" err="1">
                <a:solidFill>
                  <a:srgbClr val="FFFFFF"/>
                </a:solidFill>
              </a:rPr>
              <a:t>Spandana</a:t>
            </a:r>
            <a:r>
              <a:rPr lang="en-US" dirty="0">
                <a:solidFill>
                  <a:srgbClr val="FFFFFF"/>
                </a:solidFill>
              </a:rPr>
              <a:t> </a:t>
            </a:r>
            <a:r>
              <a:rPr lang="en-US" dirty="0" err="1">
                <a:solidFill>
                  <a:srgbClr val="FFFFFF"/>
                </a:solidFill>
              </a:rPr>
              <a:t>Pasupulaty</a:t>
            </a:r>
            <a:endParaRPr lang="en-US" dirty="0">
              <a:solidFill>
                <a:srgbClr val="FFFFFF"/>
              </a:solidFill>
            </a:endParaRPr>
          </a:p>
        </p:txBody>
      </p:sp>
      <p:sp>
        <p:nvSpPr>
          <p:cNvPr id="17" name="Rectangle 16">
            <a:extLst>
              <a:ext uri="{FF2B5EF4-FFF2-40B4-BE49-F238E27FC236}">
                <a16:creationId xmlns:a16="http://schemas.microsoft.com/office/drawing/2014/main" id="{2BF5D4DB-368A-4B23-81E4-E0454BAD8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53" y="322803"/>
            <a:ext cx="642729" cy="2930667"/>
          </a:xfrm>
          <a:prstGeom prst="rect">
            <a:avLst/>
          </a:prstGeom>
          <a:blipFill dpi="0" rotWithShape="1">
            <a:blip r:embed="rId3">
              <a:alphaModFix amt="99000"/>
              <a:extLst>
                <a:ext uri="{96DAC541-7B7A-43D3-8B79-37D633B846F1}">
                  <asvg:svgBlip xmlns:asvg="http://schemas.microsoft.com/office/drawing/2016/SVG/main" r:embed="rId4"/>
                </a:ext>
              </a:extLst>
            </a:blip>
            <a:srcRect/>
            <a:tile tx="0" ty="0" sx="6000" sy="6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372D7B9-36D5-4C1F-B7C9-36717C28F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0056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58410-3436-3D0D-5ACD-FE5F8A0A19FE}"/>
              </a:ext>
            </a:extLst>
          </p:cNvPr>
          <p:cNvSpPr>
            <a:spLocks noGrp="1"/>
          </p:cNvSpPr>
          <p:nvPr>
            <p:ph type="title"/>
          </p:nvPr>
        </p:nvSpPr>
        <p:spPr>
          <a:xfrm>
            <a:off x="808661" y="365125"/>
            <a:ext cx="10357666" cy="804914"/>
          </a:xfrm>
        </p:spPr>
        <p:txBody>
          <a:bodyPr/>
          <a:lstStyle/>
          <a:p>
            <a:r>
              <a:rPr lang="en-US"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CB57F184-9847-5D41-54B6-1490C3D1EC98}"/>
              </a:ext>
            </a:extLst>
          </p:cNvPr>
          <p:cNvSpPr>
            <a:spLocks noGrp="1"/>
          </p:cNvSpPr>
          <p:nvPr>
            <p:ph idx="1"/>
          </p:nvPr>
        </p:nvSpPr>
        <p:spPr>
          <a:xfrm>
            <a:off x="808662" y="1258529"/>
            <a:ext cx="10357666" cy="5348748"/>
          </a:xfrm>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Abstract</a:t>
            </a:r>
          </a:p>
          <a:p>
            <a:r>
              <a:rPr lang="en-US" b="1" dirty="0">
                <a:latin typeface="Times New Roman" panose="02020603050405020304" pitchFamily="18" charset="0"/>
                <a:cs typeface="Times New Roman" panose="02020603050405020304" pitchFamily="18" charset="0"/>
              </a:rPr>
              <a:t>Introduction</a:t>
            </a:r>
          </a:p>
          <a:p>
            <a:r>
              <a:rPr lang="en-US" b="1" dirty="0">
                <a:latin typeface="Times New Roman" panose="02020603050405020304" pitchFamily="18" charset="0"/>
                <a:cs typeface="Times New Roman" panose="02020603050405020304" pitchFamily="18" charset="0"/>
              </a:rPr>
              <a:t>Objectives</a:t>
            </a:r>
          </a:p>
          <a:p>
            <a:r>
              <a:rPr lang="en-US" b="1" dirty="0">
                <a:latin typeface="Times New Roman" panose="02020603050405020304" pitchFamily="18" charset="0"/>
                <a:cs typeface="Times New Roman" panose="02020603050405020304" pitchFamily="18" charset="0"/>
              </a:rPr>
              <a:t>Literature review</a:t>
            </a:r>
          </a:p>
          <a:p>
            <a:r>
              <a:rPr lang="en-US" b="1" dirty="0">
                <a:latin typeface="Times New Roman" panose="02020603050405020304" pitchFamily="18" charset="0"/>
                <a:cs typeface="Times New Roman" panose="02020603050405020304" pitchFamily="18" charset="0"/>
              </a:rPr>
              <a:t>Challenges in Existing System</a:t>
            </a:r>
          </a:p>
          <a:p>
            <a:r>
              <a:rPr lang="en-US" b="1" dirty="0">
                <a:latin typeface="Times New Roman" panose="02020603050405020304" pitchFamily="18" charset="0"/>
                <a:cs typeface="Times New Roman" panose="02020603050405020304" pitchFamily="18" charset="0"/>
              </a:rPr>
              <a:t>Proposed Methodology</a:t>
            </a:r>
          </a:p>
          <a:p>
            <a:r>
              <a:rPr lang="en-US" b="1" dirty="0">
                <a:latin typeface="Times New Roman" panose="02020603050405020304" pitchFamily="18" charset="0"/>
                <a:cs typeface="Times New Roman" panose="02020603050405020304" pitchFamily="18" charset="0"/>
              </a:rPr>
              <a:t>System Architecture</a:t>
            </a:r>
          </a:p>
          <a:p>
            <a:r>
              <a:rPr lang="en-US" b="1" dirty="0">
                <a:latin typeface="Times New Roman" panose="02020603050405020304" pitchFamily="18" charset="0"/>
                <a:cs typeface="Times New Roman" panose="02020603050405020304" pitchFamily="18" charset="0"/>
              </a:rPr>
              <a:t>Dataset Description</a:t>
            </a:r>
          </a:p>
          <a:p>
            <a:r>
              <a:rPr lang="en-US" b="1" dirty="0">
                <a:latin typeface="Times New Roman" panose="02020603050405020304" pitchFamily="18" charset="0"/>
                <a:cs typeface="Times New Roman" panose="02020603050405020304" pitchFamily="18" charset="0"/>
              </a:rPr>
              <a:t>Machine learning Models</a:t>
            </a:r>
          </a:p>
          <a:p>
            <a:r>
              <a:rPr lang="en-US" b="1" dirty="0">
                <a:latin typeface="Times New Roman" panose="02020603050405020304" pitchFamily="18" charset="0"/>
                <a:cs typeface="Times New Roman" panose="02020603050405020304" pitchFamily="18" charset="0"/>
              </a:rPr>
              <a:t>Implementation Process</a:t>
            </a:r>
          </a:p>
          <a:p>
            <a:r>
              <a:rPr lang="en-US" b="1" dirty="0">
                <a:latin typeface="Times New Roman" panose="02020603050405020304" pitchFamily="18" charset="0"/>
                <a:cs typeface="Times New Roman" panose="02020603050405020304" pitchFamily="18" charset="0"/>
              </a:rPr>
              <a:t>Results and Analysis</a:t>
            </a:r>
          </a:p>
          <a:p>
            <a:r>
              <a:rPr lang="en-US" b="1" dirty="0">
                <a:latin typeface="Times New Roman" panose="02020603050405020304" pitchFamily="18" charset="0"/>
                <a:cs typeface="Times New Roman" panose="02020603050405020304" pitchFamily="18" charset="0"/>
              </a:rPr>
              <a:t>Challenges Faced</a:t>
            </a:r>
          </a:p>
          <a:p>
            <a:r>
              <a:rPr lang="en-US" b="1" dirty="0">
                <a:latin typeface="Times New Roman" panose="02020603050405020304" pitchFamily="18" charset="0"/>
                <a:cs typeface="Times New Roman" panose="02020603050405020304" pitchFamily="18" charset="0"/>
              </a:rPr>
              <a:t>Conclusion</a:t>
            </a:r>
          </a:p>
          <a:p>
            <a:r>
              <a:rPr lang="en-US" b="1" dirty="0">
                <a:latin typeface="Times New Roman" panose="02020603050405020304" pitchFamily="18" charset="0"/>
                <a:cs typeface="Times New Roman" panose="02020603050405020304" pitchFamily="18" charset="0"/>
              </a:rPr>
              <a:t>Future Work</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8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62405-CB96-665A-984B-2BDB2610162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BFFF719-3954-39AC-3A6C-0F377475712F}"/>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Asteroids orbit the Sun, and while most pose no immediate threat, some can come dangerously close to Earth. Early detection of these hazardous asteroids is critical for mitigating potential impacts. This project leverages machine learning techniques to classify asteroids as hazardous or non-hazardous based on various features like size, speed, and proximity to Earth. The dataset used includes 4688 records and 40 features sourced from NASA’s Jet Propulsion Laboratory (JPL). Several machine learning models, including Logistic Regression, Random Forest, and Deep Neural Networks, were applied to determine the most accurate predictive system. The results highlight the potential of machine learning in improving detection accuracy and enhancing global preparedness against asteroid threats.</a:t>
            </a:r>
          </a:p>
          <a:p>
            <a:pPr algn="just"/>
            <a:endParaRPr lang="en-US" dirty="0"/>
          </a:p>
        </p:txBody>
      </p:sp>
    </p:spTree>
    <p:extLst>
      <p:ext uri="{BB962C8B-B14F-4D97-AF65-F5344CB8AC3E}">
        <p14:creationId xmlns:p14="http://schemas.microsoft.com/office/powerpoint/2010/main" val="724979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6C09D-ED43-A29B-DC98-3EEA9E4DB506}"/>
              </a:ext>
            </a:extLst>
          </p:cNvPr>
          <p:cNvSpPr>
            <a:spLocks noGrp="1"/>
          </p:cNvSpPr>
          <p:nvPr>
            <p:ph type="title"/>
          </p:nvPr>
        </p:nvSpPr>
        <p:spPr>
          <a:xfrm>
            <a:off x="808661" y="365125"/>
            <a:ext cx="10357666" cy="913069"/>
          </a:xfrm>
        </p:spPr>
        <p:txBody>
          <a:bodyPr/>
          <a:lstStyle/>
          <a:p>
            <a:r>
              <a:rPr lang="en-US"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6257883B-2325-8850-15D5-13622BB4C82A}"/>
              </a:ext>
            </a:extLst>
          </p:cNvPr>
          <p:cNvSpPr>
            <a:spLocks noGrp="1"/>
          </p:cNvSpPr>
          <p:nvPr>
            <p:ph idx="1"/>
          </p:nvPr>
        </p:nvSpPr>
        <p:spPr>
          <a:xfrm>
            <a:off x="808662" y="2113935"/>
            <a:ext cx="10357666" cy="4020165"/>
          </a:xfrm>
        </p:spPr>
        <p:txBody>
          <a:bodyPr/>
          <a:lstStyle/>
          <a:p>
            <a:pPr algn="just"/>
            <a:r>
              <a:rPr lang="en-US" dirty="0">
                <a:latin typeface="Times New Roman" panose="02020603050405020304" pitchFamily="18" charset="0"/>
                <a:cs typeface="Times New Roman" panose="02020603050405020304" pitchFamily="18" charset="0"/>
              </a:rPr>
              <a:t>Asteroids are rocky objects orbiting the Sun, remnants from the early solar system. Some of these, known as Near-Earth Objects (NEOs), have orbits bringing them close to Earth, raising concerns about potential impacts. Detecting these hazardous asteroids is vital to avert catastrophic events. Traditionally, astronomers manually analyze asteroid data, but the sheer volume of information makes this task daunting. Machine learning offers a faster, more accurate alternative by analyzing large datasets, identifying patterns, and predicting potential risks. This project explores using machine learning models to classify asteroids as hazardous or non-hazardous, emphasizing the importance of this technology in planetary defense.</a:t>
            </a:r>
          </a:p>
        </p:txBody>
      </p:sp>
    </p:spTree>
    <p:extLst>
      <p:ext uri="{BB962C8B-B14F-4D97-AF65-F5344CB8AC3E}">
        <p14:creationId xmlns:p14="http://schemas.microsoft.com/office/powerpoint/2010/main" val="1872641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5405-21F7-AD5F-4D2B-3DE030EB5ED1}"/>
              </a:ext>
            </a:extLst>
          </p:cNvPr>
          <p:cNvSpPr>
            <a:spLocks noGrp="1"/>
          </p:cNvSpPr>
          <p:nvPr>
            <p:ph type="title"/>
          </p:nvPr>
        </p:nvSpPr>
        <p:spPr>
          <a:xfrm>
            <a:off x="808661" y="365125"/>
            <a:ext cx="10357666" cy="883572"/>
          </a:xfrm>
        </p:spPr>
        <p:txBody>
          <a:bodyPr/>
          <a:lstStyle/>
          <a:p>
            <a:r>
              <a:rPr lang="en-US"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A1311087-3274-B750-29D3-1CB172BBF768}"/>
              </a:ext>
            </a:extLst>
          </p:cNvPr>
          <p:cNvSpPr>
            <a:spLocks noGrp="1"/>
          </p:cNvSpPr>
          <p:nvPr>
            <p:ph idx="1"/>
          </p:nvPr>
        </p:nvSpPr>
        <p:spPr>
          <a:xfrm>
            <a:off x="808662" y="1661652"/>
            <a:ext cx="10357666" cy="4472448"/>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primary objective is to develop a machine learning-based system that can classify asteroids as hazardous or non-hazardous. This involves: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Compiling and preprocessing a dataset containing detailed asteroid observations.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Applying various machine learning models to classify the data.</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Comparing the performance of different models to identify the most accurate and reliable one.</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Addressing challenges such as imbalanced datasets, missing values, and overfitting.</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Ensuring the results contribute to improving planetary defense strategies by providing accurate and actionable insights about hazardous asteroids.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0973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23C26-51E4-0FC5-AA51-3ED7DF64AEA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id="{8B6B416B-AB18-BEC7-5C80-99B87FB13930}"/>
              </a:ext>
            </a:extLst>
          </p:cNvPr>
          <p:cNvSpPr>
            <a:spLocks noGrp="1"/>
          </p:cNvSpPr>
          <p:nvPr>
            <p:ph idx="1"/>
          </p:nvPr>
        </p:nvSpPr>
        <p:spPr>
          <a:xfrm>
            <a:off x="808662" y="2467897"/>
            <a:ext cx="10357666" cy="3666203"/>
          </a:xfrm>
        </p:spPr>
        <p:txBody>
          <a:bodyPr/>
          <a:lstStyle/>
          <a:p>
            <a:pPr marL="0" indent="0" algn="just">
              <a:buNone/>
            </a:pPr>
            <a:r>
              <a:rPr lang="en-US" dirty="0">
                <a:latin typeface="Times New Roman" panose="02020603050405020304" pitchFamily="18" charset="0"/>
                <a:cs typeface="Times New Roman" panose="02020603050405020304" pitchFamily="18" charset="0"/>
              </a:rPr>
              <a:t>Existing studies highlight the potential of machine learning in asteroid detection. For example, Random Forest models have shown high accuracy in classification tasks due to their ability to handle large datasets and complex patterns. Logistic Regression has proven effective in binary classifications, such as hazardous vs. non-hazardous. Other studies emphasize the importance of feature selection to improve model accuracy. Advanced methods like Deep Neural Networks (DNN) are also gaining popularity for their capability to model intricate relationships within data. These findings inspired our approach, which combines insights from literature with real-world data from NASA JPL to build and evaluate predictive models.</a:t>
            </a:r>
          </a:p>
        </p:txBody>
      </p:sp>
    </p:spTree>
    <p:extLst>
      <p:ext uri="{BB962C8B-B14F-4D97-AF65-F5344CB8AC3E}">
        <p14:creationId xmlns:p14="http://schemas.microsoft.com/office/powerpoint/2010/main" val="1715205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9D172-8046-9A58-5D56-49DC5479819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in Existing System</a:t>
            </a:r>
          </a:p>
        </p:txBody>
      </p:sp>
      <p:sp>
        <p:nvSpPr>
          <p:cNvPr id="3" name="Content Placeholder 2">
            <a:extLst>
              <a:ext uri="{FF2B5EF4-FFF2-40B4-BE49-F238E27FC236}">
                <a16:creationId xmlns:a16="http://schemas.microsoft.com/office/drawing/2014/main" id="{73F097E3-A162-17AB-D4F1-DCAED3653B61}"/>
              </a:ext>
            </a:extLst>
          </p:cNvPr>
          <p:cNvSpPr>
            <a:spLocks noGrp="1"/>
          </p:cNvSpPr>
          <p:nvPr>
            <p:ph idx="1"/>
          </p:nvPr>
        </p:nvSpPr>
        <p:spPr>
          <a:xfrm>
            <a:off x="808662" y="1887795"/>
            <a:ext cx="10357666" cy="4246306"/>
          </a:xfrm>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Current systems face several challenges:</a:t>
            </a:r>
          </a:p>
          <a:p>
            <a:pPr>
              <a:buFont typeface="+mj-lt"/>
              <a:buAutoNum type="arabicPeriod"/>
            </a:pPr>
            <a:r>
              <a:rPr lang="en-US" b="1" dirty="0">
                <a:latin typeface="Times New Roman" panose="02020603050405020304" pitchFamily="18" charset="0"/>
                <a:cs typeface="Times New Roman" panose="02020603050405020304" pitchFamily="18" charset="0"/>
              </a:rPr>
              <a:t>Data Complexity</a:t>
            </a:r>
            <a:r>
              <a:rPr lang="en-US" dirty="0">
                <a:latin typeface="Times New Roman" panose="02020603050405020304" pitchFamily="18" charset="0"/>
                <a:cs typeface="Times New Roman" panose="02020603050405020304" pitchFamily="18" charset="0"/>
              </a:rPr>
              <a:t>: Astronomical datasets are vast and contain numerous features, making manual analysis impractical.</a:t>
            </a:r>
          </a:p>
          <a:p>
            <a:pPr>
              <a:buFont typeface="+mj-lt"/>
              <a:buAutoNum type="arabicPeriod"/>
            </a:pPr>
            <a:r>
              <a:rPr lang="en-US" b="1" dirty="0">
                <a:latin typeface="Times New Roman" panose="02020603050405020304" pitchFamily="18" charset="0"/>
                <a:cs typeface="Times New Roman" panose="02020603050405020304" pitchFamily="18" charset="0"/>
              </a:rPr>
              <a:t>Imbalanced Data</a:t>
            </a:r>
            <a:r>
              <a:rPr lang="en-US" dirty="0">
                <a:latin typeface="Times New Roman" panose="02020603050405020304" pitchFamily="18" charset="0"/>
                <a:cs typeface="Times New Roman" panose="02020603050405020304" pitchFamily="18" charset="0"/>
              </a:rPr>
              <a:t>: Most datasets have fewer hazardous asteroid instances compared to non-hazardous ones, leading to biased predictions.</a:t>
            </a:r>
          </a:p>
          <a:p>
            <a:pPr>
              <a:buFont typeface="+mj-lt"/>
              <a:buAutoNum type="arabicPeriod"/>
            </a:pPr>
            <a:r>
              <a:rPr lang="en-US" b="1" dirty="0">
                <a:latin typeface="Times New Roman" panose="02020603050405020304" pitchFamily="18" charset="0"/>
                <a:cs typeface="Times New Roman" panose="02020603050405020304" pitchFamily="18" charset="0"/>
              </a:rPr>
              <a:t>Missing Values</a:t>
            </a:r>
            <a:r>
              <a:rPr lang="en-US" dirty="0">
                <a:latin typeface="Times New Roman" panose="02020603050405020304" pitchFamily="18" charset="0"/>
                <a:cs typeface="Times New Roman" panose="02020603050405020304" pitchFamily="18" charset="0"/>
              </a:rPr>
              <a:t>: Missing or incomplete data reduces model accuracy.</a:t>
            </a:r>
          </a:p>
          <a:p>
            <a:pPr>
              <a:buFont typeface="+mj-lt"/>
              <a:buAutoNum type="arabicPeriod"/>
            </a:pPr>
            <a:r>
              <a:rPr lang="en-US" b="1" dirty="0">
                <a:latin typeface="Times New Roman" panose="02020603050405020304" pitchFamily="18" charset="0"/>
                <a:cs typeface="Times New Roman" panose="02020603050405020304" pitchFamily="18" charset="0"/>
              </a:rPr>
              <a:t>Overfitting</a:t>
            </a:r>
            <a:r>
              <a:rPr lang="en-US" dirty="0">
                <a:latin typeface="Times New Roman" panose="02020603050405020304" pitchFamily="18" charset="0"/>
                <a:cs typeface="Times New Roman" panose="02020603050405020304" pitchFamily="18" charset="0"/>
              </a:rPr>
              <a:t>: Some models perform well on training data but fail on unseen data, limiting real-world applicability.</a:t>
            </a:r>
          </a:p>
          <a:p>
            <a:pPr>
              <a:buFont typeface="+mj-lt"/>
              <a:buAutoNum type="arabicPeriod"/>
            </a:pPr>
            <a:r>
              <a:rPr lang="en-US" b="1" dirty="0">
                <a:latin typeface="Times New Roman" panose="02020603050405020304" pitchFamily="18" charset="0"/>
                <a:cs typeface="Times New Roman" panose="02020603050405020304" pitchFamily="18" charset="0"/>
              </a:rPr>
              <a:t>Computational Limitations</a:t>
            </a:r>
            <a:r>
              <a:rPr lang="en-US" dirty="0">
                <a:latin typeface="Times New Roman" panose="02020603050405020304" pitchFamily="18" charset="0"/>
                <a:cs typeface="Times New Roman" panose="02020603050405020304" pitchFamily="18" charset="0"/>
              </a:rPr>
              <a:t>: Processing large datasets requires significant computational resources, making it challenging for resource-constrained systems.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1843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25FC8-5BFB-7786-82B7-72B27A65561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BA4B2963-2945-620C-A925-7528355A31B5}"/>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proposed methodology involves:</a:t>
            </a:r>
          </a:p>
          <a:p>
            <a:pPr>
              <a:buFont typeface="+mj-lt"/>
              <a:buAutoNum type="arabicPeriod"/>
            </a:pPr>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Dataset sourced from NASA JPL with 4688 rows and 40 features.</a:t>
            </a:r>
          </a:p>
          <a:p>
            <a:pPr>
              <a:buFont typeface="+mj-lt"/>
              <a:buAutoNum type="arabicPeriod"/>
            </a:pPr>
            <a:r>
              <a:rPr lang="en-US" b="1" dirty="0">
                <a:latin typeface="Times New Roman" panose="02020603050405020304" pitchFamily="18" charset="0"/>
                <a:cs typeface="Times New Roman" panose="02020603050405020304" pitchFamily="18" charset="0"/>
              </a:rPr>
              <a:t>Preprocessing</a:t>
            </a:r>
            <a:r>
              <a:rPr lang="en-US" dirty="0">
                <a:latin typeface="Times New Roman" panose="02020603050405020304" pitchFamily="18" charset="0"/>
                <a:cs typeface="Times New Roman" panose="02020603050405020304" pitchFamily="18" charset="0"/>
              </a:rPr>
              <a:t>: Handling missing values, normalizing data, and balancing the dataset.</a:t>
            </a:r>
          </a:p>
          <a:p>
            <a:pPr>
              <a:buFont typeface="+mj-lt"/>
              <a:buAutoNum type="arabicPeriod"/>
            </a:pPr>
            <a:r>
              <a:rPr lang="en-US" b="1" dirty="0">
                <a:latin typeface="Times New Roman" panose="02020603050405020304" pitchFamily="18" charset="0"/>
                <a:cs typeface="Times New Roman" panose="02020603050405020304" pitchFamily="18" charset="0"/>
              </a:rPr>
              <a:t>Feature Selection</a:t>
            </a:r>
            <a:r>
              <a:rPr lang="en-US" dirty="0">
                <a:latin typeface="Times New Roman" panose="02020603050405020304" pitchFamily="18" charset="0"/>
                <a:cs typeface="Times New Roman" panose="02020603050405020304" pitchFamily="18" charset="0"/>
              </a:rPr>
              <a:t>: Using heatmaps to identify relevant attributes.</a:t>
            </a:r>
          </a:p>
          <a:p>
            <a:pPr>
              <a:buFont typeface="+mj-lt"/>
              <a:buAutoNum type="arabicPeriod"/>
            </a:pPr>
            <a:r>
              <a:rPr lang="en-US" b="1" dirty="0">
                <a:latin typeface="Times New Roman" panose="02020603050405020304" pitchFamily="18" charset="0"/>
                <a:cs typeface="Times New Roman" panose="02020603050405020304" pitchFamily="18" charset="0"/>
              </a:rPr>
              <a:t>Model Training</a:t>
            </a:r>
            <a:r>
              <a:rPr lang="en-US" dirty="0">
                <a:latin typeface="Times New Roman" panose="02020603050405020304" pitchFamily="18" charset="0"/>
                <a:cs typeface="Times New Roman" panose="02020603050405020304" pitchFamily="18" charset="0"/>
              </a:rPr>
              <a:t>: Implementing models like Naïve Bayes, Logistic Regression, Random Forest, Decision Tree, KNN, SVM, and DNN.</a:t>
            </a:r>
          </a:p>
          <a:p>
            <a:pPr>
              <a:buFont typeface="+mj-lt"/>
              <a:buAutoNum type="arabicPeriod"/>
            </a:pPr>
            <a:r>
              <a:rPr lang="en-US" b="1" dirty="0">
                <a:latin typeface="Times New Roman" panose="02020603050405020304" pitchFamily="18" charset="0"/>
                <a:cs typeface="Times New Roman" panose="02020603050405020304" pitchFamily="18" charset="0"/>
              </a:rPr>
              <a:t>Evaluation</a:t>
            </a:r>
            <a:r>
              <a:rPr lang="en-US" dirty="0">
                <a:latin typeface="Times New Roman" panose="02020603050405020304" pitchFamily="18" charset="0"/>
                <a:cs typeface="Times New Roman" panose="02020603050405020304" pitchFamily="18" charset="0"/>
              </a:rPr>
              <a:t>: Comparing models using metrics like accuracy, precision, recall, and F1-score to identify the best-performing algorithm.</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5295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582AD-92C4-71DE-1723-F06D03B298A7}"/>
              </a:ext>
            </a:extLst>
          </p:cNvPr>
          <p:cNvSpPr>
            <a:spLocks noGrp="1"/>
          </p:cNvSpPr>
          <p:nvPr>
            <p:ph type="title"/>
          </p:nvPr>
        </p:nvSpPr>
        <p:spPr>
          <a:xfrm>
            <a:off x="108156" y="365125"/>
            <a:ext cx="11058171" cy="1438450"/>
          </a:xfrm>
        </p:spPr>
        <p:txBody>
          <a:bodyPr>
            <a:normAutofit/>
          </a:bodyPr>
          <a:lstStyle/>
          <a:p>
            <a:r>
              <a:rPr lang="en-US" sz="2400" b="1">
                <a:latin typeface="Times New Roman" panose="02020603050405020304" pitchFamily="18" charset="0"/>
                <a:cs typeface="Times New Roman" panose="02020603050405020304" pitchFamily="18" charset="0"/>
              </a:rPr>
              <a:t>System Architecture</a:t>
            </a:r>
            <a:endParaRPr lang="en-US"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E809FC-23FD-3085-1A80-A73F676DC5A6}"/>
              </a:ext>
            </a:extLst>
          </p:cNvPr>
          <p:cNvSpPr>
            <a:spLocks noGrp="1"/>
          </p:cNvSpPr>
          <p:nvPr>
            <p:ph idx="1"/>
          </p:nvPr>
        </p:nvSpPr>
        <p:spPr>
          <a:xfrm>
            <a:off x="108156" y="2019299"/>
            <a:ext cx="5348748" cy="4114801"/>
          </a:xfrm>
        </p:spPr>
        <p:txBody>
          <a:bodyPr>
            <a:normAutofit/>
          </a:bodyPr>
          <a:lstStyle/>
          <a:p>
            <a:pPr marL="0" indent="0">
              <a:buNone/>
            </a:pPr>
            <a:r>
              <a:rPr lang="en-US" sz="1200" b="1">
                <a:latin typeface="Times New Roman" panose="02020603050405020304" pitchFamily="18" charset="0"/>
                <a:cs typeface="Times New Roman" panose="02020603050405020304" pitchFamily="18" charset="0"/>
              </a:rPr>
              <a:t>Components</a:t>
            </a:r>
            <a:r>
              <a:rPr lang="en-US" sz="120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200" b="1">
                <a:latin typeface="Times New Roman" panose="02020603050405020304" pitchFamily="18" charset="0"/>
                <a:cs typeface="Times New Roman" panose="02020603050405020304" pitchFamily="18" charset="0"/>
              </a:rPr>
              <a:t>Data Source</a:t>
            </a:r>
            <a:r>
              <a:rPr lang="en-US" sz="1200">
                <a:latin typeface="Times New Roman" panose="02020603050405020304" pitchFamily="18" charset="0"/>
                <a:cs typeface="Times New Roman" panose="02020603050405020304" pitchFamily="18" charset="0"/>
              </a:rPr>
              <a:t>: Dataset from NASA JPL with features like size, velocity, and proximity to Earth.</a:t>
            </a:r>
          </a:p>
          <a:p>
            <a:pPr>
              <a:buFont typeface="Arial" panose="020B0604020202020204" pitchFamily="34" charset="0"/>
              <a:buChar char="•"/>
            </a:pPr>
            <a:r>
              <a:rPr lang="en-US" sz="1200" b="1">
                <a:latin typeface="Times New Roman" panose="02020603050405020304" pitchFamily="18" charset="0"/>
                <a:cs typeface="Times New Roman" panose="02020603050405020304" pitchFamily="18" charset="0"/>
              </a:rPr>
              <a:t>Data Preprocessing</a:t>
            </a:r>
            <a:r>
              <a:rPr lang="en-US" sz="1200">
                <a:latin typeface="Times New Roman" panose="02020603050405020304" pitchFamily="18" charset="0"/>
                <a:cs typeface="Times New Roman" panose="02020603050405020304" pitchFamily="18" charset="0"/>
              </a:rPr>
              <a:t>: Handle missing values, normalize data, select relevant features, and split into training/testing sets.</a:t>
            </a:r>
          </a:p>
          <a:p>
            <a:pPr>
              <a:buFont typeface="Arial" panose="020B0604020202020204" pitchFamily="34" charset="0"/>
              <a:buChar char="•"/>
            </a:pPr>
            <a:r>
              <a:rPr lang="en-US" sz="1200" b="1">
                <a:latin typeface="Times New Roman" panose="02020603050405020304" pitchFamily="18" charset="0"/>
                <a:cs typeface="Times New Roman" panose="02020603050405020304" pitchFamily="18" charset="0"/>
              </a:rPr>
              <a:t>Machine Learning Models</a:t>
            </a:r>
            <a:r>
              <a:rPr lang="en-US" sz="1200">
                <a:latin typeface="Times New Roman" panose="02020603050405020304" pitchFamily="18" charset="0"/>
                <a:cs typeface="Times New Roman" panose="02020603050405020304" pitchFamily="18" charset="0"/>
              </a:rPr>
              <a:t>: Train models like Naïve Bayes, Logistic Regression, Random Forest, and SVM. Fine-tune hyperparameters for better performance.</a:t>
            </a:r>
          </a:p>
          <a:p>
            <a:pPr>
              <a:buFont typeface="Arial" panose="020B0604020202020204" pitchFamily="34" charset="0"/>
              <a:buChar char="•"/>
            </a:pPr>
            <a:r>
              <a:rPr lang="en-US" sz="1200" b="1">
                <a:latin typeface="Times New Roman" panose="02020603050405020304" pitchFamily="18" charset="0"/>
                <a:cs typeface="Times New Roman" panose="02020603050405020304" pitchFamily="18" charset="0"/>
              </a:rPr>
              <a:t>Evaluation Metrics</a:t>
            </a:r>
            <a:r>
              <a:rPr lang="en-US" sz="1200">
                <a:latin typeface="Times New Roman" panose="02020603050405020304" pitchFamily="18" charset="0"/>
                <a:cs typeface="Times New Roman" panose="02020603050405020304" pitchFamily="18" charset="0"/>
              </a:rPr>
              <a:t>: Use accuracy, precision, recall, F1-score, and confusion matrices to assess model performance.</a:t>
            </a:r>
          </a:p>
          <a:p>
            <a:pPr>
              <a:buFont typeface="Arial" panose="020B0604020202020204" pitchFamily="34" charset="0"/>
              <a:buChar char="•"/>
            </a:pPr>
            <a:r>
              <a:rPr lang="en-US" sz="1200" b="1">
                <a:latin typeface="Times New Roman" panose="02020603050405020304" pitchFamily="18" charset="0"/>
                <a:cs typeface="Times New Roman" panose="02020603050405020304" pitchFamily="18" charset="0"/>
              </a:rPr>
              <a:t>Output</a:t>
            </a:r>
            <a:r>
              <a:rPr lang="en-US" sz="1200">
                <a:latin typeface="Times New Roman" panose="02020603050405020304" pitchFamily="18" charset="0"/>
                <a:cs typeface="Times New Roman" panose="02020603050405020304" pitchFamily="18" charset="0"/>
              </a:rPr>
              <a:t>: Classify asteroids as Hazardous or Non-Hazardous and highlight the most accurate model.</a:t>
            </a:r>
          </a:p>
          <a:p>
            <a:endParaRPr lang="en-US" sz="1200" dirty="0">
              <a:latin typeface="Times New Roman" panose="02020603050405020304" pitchFamily="18" charset="0"/>
              <a:cs typeface="Times New Roman" panose="02020603050405020304" pitchFamily="18" charset="0"/>
            </a:endParaRPr>
          </a:p>
        </p:txBody>
      </p:sp>
      <p:pic>
        <p:nvPicPr>
          <p:cNvPr id="5" name="Picture 4" descr="A screenshot of a computer&#10;&#10;Description automatically generated">
            <a:extLst>
              <a:ext uri="{FF2B5EF4-FFF2-40B4-BE49-F238E27FC236}">
                <a16:creationId xmlns:a16="http://schemas.microsoft.com/office/drawing/2014/main" id="{2C056BA9-F4B3-463E-441B-CC159D9F98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2039" y="0"/>
            <a:ext cx="6449961" cy="6858000"/>
          </a:xfrm>
          <a:prstGeom prst="rect">
            <a:avLst/>
          </a:prstGeom>
        </p:spPr>
      </p:pic>
    </p:spTree>
    <p:extLst>
      <p:ext uri="{BB962C8B-B14F-4D97-AF65-F5344CB8AC3E}">
        <p14:creationId xmlns:p14="http://schemas.microsoft.com/office/powerpoint/2010/main" val="2632719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75AAA-2E26-2B9D-926C-41ADE20DE95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Dataset Description</a:t>
            </a:r>
          </a:p>
        </p:txBody>
      </p:sp>
      <p:sp>
        <p:nvSpPr>
          <p:cNvPr id="3" name="Content Placeholder 2">
            <a:extLst>
              <a:ext uri="{FF2B5EF4-FFF2-40B4-BE49-F238E27FC236}">
                <a16:creationId xmlns:a16="http://schemas.microsoft.com/office/drawing/2014/main" id="{2C9512A9-4199-3D5D-58A6-CD5086F375A1}"/>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dataset, obtained from NASA JPL, contains detailed observations of asteroids, including:</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Attributes</a:t>
            </a:r>
            <a:r>
              <a:rPr lang="en-US" dirty="0">
                <a:latin typeface="Times New Roman" panose="02020603050405020304" pitchFamily="18" charset="0"/>
                <a:cs typeface="Times New Roman" panose="02020603050405020304" pitchFamily="18" charset="0"/>
              </a:rPr>
              <a:t>: Size, velocity, proximity to Earth, brightness magnitude, etc.</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Rows and Features</a:t>
            </a:r>
            <a:r>
              <a:rPr lang="en-US" dirty="0">
                <a:latin typeface="Times New Roman" panose="02020603050405020304" pitchFamily="18" charset="0"/>
                <a:cs typeface="Times New Roman" panose="02020603050405020304" pitchFamily="18" charset="0"/>
              </a:rPr>
              <a:t>: 4688 rows and 40 features.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Preprocessing Steps</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Removed redundant and irrelevant columns.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Handled missing values using imputation techniques.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Balanced the dataset to address bias issues.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Normalized numerical attributes for better model performance.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731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3B3CA-4313-3282-26BE-93CB084C89D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Machine Learning Models</a:t>
            </a:r>
          </a:p>
        </p:txBody>
      </p:sp>
      <p:sp>
        <p:nvSpPr>
          <p:cNvPr id="5" name="Rectangle 2">
            <a:extLst>
              <a:ext uri="{FF2B5EF4-FFF2-40B4-BE49-F238E27FC236}">
                <a16:creationId xmlns:a16="http://schemas.microsoft.com/office/drawing/2014/main" id="{0E97D7E5-4CEF-DE8C-71DC-17097D12A545}"/>
              </a:ext>
            </a:extLst>
          </p:cNvPr>
          <p:cNvSpPr>
            <a:spLocks noGrp="1" noChangeArrowheads="1"/>
          </p:cNvSpPr>
          <p:nvPr>
            <p:ph idx="1"/>
          </p:nvPr>
        </p:nvSpPr>
        <p:spPr bwMode="auto">
          <a:xfrm>
            <a:off x="808662" y="2133732"/>
            <a:ext cx="7965770" cy="388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Naïve Bayes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simple probabilistic model effective for text and categorical data.</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binary outcomes like hazardous vs. non-hazardous.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ensemble method known for its robustness and high accuracy.</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KNN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Classifies data points based on their similarity to neighbors.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visual and interpretable model for decision-making.</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SVM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Finds a hyperplane that separates data points into categories.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DNN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complex patterns using multiple interconnected layers. </a:t>
            </a:r>
          </a:p>
        </p:txBody>
      </p:sp>
    </p:spTree>
    <p:extLst>
      <p:ext uri="{BB962C8B-B14F-4D97-AF65-F5344CB8AC3E}">
        <p14:creationId xmlns:p14="http://schemas.microsoft.com/office/powerpoint/2010/main" val="1647030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19595-4ACD-D146-2194-E5C38A384DE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Implementation Process</a:t>
            </a:r>
          </a:p>
        </p:txBody>
      </p:sp>
      <p:sp>
        <p:nvSpPr>
          <p:cNvPr id="4" name="Rectangle 1">
            <a:extLst>
              <a:ext uri="{FF2B5EF4-FFF2-40B4-BE49-F238E27FC236}">
                <a16:creationId xmlns:a16="http://schemas.microsoft.com/office/drawing/2014/main" id="{A2396A64-E4F0-EF83-0EF7-D3500C5AAB05}"/>
              </a:ext>
            </a:extLst>
          </p:cNvPr>
          <p:cNvSpPr>
            <a:spLocks noGrp="1" noChangeArrowheads="1"/>
          </p:cNvSpPr>
          <p:nvPr>
            <p:ph idx="1"/>
          </p:nvPr>
        </p:nvSpPr>
        <p:spPr bwMode="auto">
          <a:xfrm>
            <a:off x="808662" y="2358794"/>
            <a:ext cx="9508822" cy="343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Split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70% for training, 30% for testing.</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Used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libraries like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Keras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Pandas, and Matplotlib.</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Trained models using cross-validation to avoid overfitting.</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Analyzed performance using accuracy, confusion matrices, and precision-recall curves.</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heatmaps and charts to interpret results. </a:t>
            </a:r>
          </a:p>
        </p:txBody>
      </p:sp>
    </p:spTree>
    <p:extLst>
      <p:ext uri="{BB962C8B-B14F-4D97-AF65-F5344CB8AC3E}">
        <p14:creationId xmlns:p14="http://schemas.microsoft.com/office/powerpoint/2010/main" val="1654315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B9CBD-E2F5-3327-2DBF-1B629E22315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Results and Analysis</a:t>
            </a:r>
          </a:p>
        </p:txBody>
      </p:sp>
      <p:sp>
        <p:nvSpPr>
          <p:cNvPr id="4" name="Rectangle 1">
            <a:extLst>
              <a:ext uri="{FF2B5EF4-FFF2-40B4-BE49-F238E27FC236}">
                <a16:creationId xmlns:a16="http://schemas.microsoft.com/office/drawing/2014/main" id="{AD0F9CE3-377A-C6BB-845D-372F339B5E1A}"/>
              </a:ext>
            </a:extLst>
          </p:cNvPr>
          <p:cNvSpPr>
            <a:spLocks noGrp="1" noChangeArrowheads="1"/>
          </p:cNvSpPr>
          <p:nvPr>
            <p:ph idx="1"/>
          </p:nvPr>
        </p:nvSpPr>
        <p:spPr bwMode="auto">
          <a:xfrm>
            <a:off x="883532" y="2213154"/>
            <a:ext cx="10207923" cy="2431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 Performing 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Random Forest and DNN outperformed others with high accuracy and precision.</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Accuracy comparison charts and confusion matrices highlight model performance.</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Insights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Addressed overfitting by optimizing hyperparameters. </a:t>
            </a:r>
          </a:p>
        </p:txBody>
      </p:sp>
    </p:spTree>
    <p:extLst>
      <p:ext uri="{BB962C8B-B14F-4D97-AF65-F5344CB8AC3E}">
        <p14:creationId xmlns:p14="http://schemas.microsoft.com/office/powerpoint/2010/main" val="954461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011F9-238B-369A-2A42-41B885CF891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Faced</a:t>
            </a:r>
          </a:p>
        </p:txBody>
      </p:sp>
      <p:sp>
        <p:nvSpPr>
          <p:cNvPr id="4" name="Rectangle 1">
            <a:extLst>
              <a:ext uri="{FF2B5EF4-FFF2-40B4-BE49-F238E27FC236}">
                <a16:creationId xmlns:a16="http://schemas.microsoft.com/office/drawing/2014/main" id="{35753436-A2C7-0E76-5C22-298687B31FFB}"/>
              </a:ext>
            </a:extLst>
          </p:cNvPr>
          <p:cNvSpPr>
            <a:spLocks noGrp="1" noChangeArrowheads="1"/>
          </p:cNvSpPr>
          <p:nvPr>
            <p:ph idx="1"/>
          </p:nvPr>
        </p:nvSpPr>
        <p:spPr bwMode="auto">
          <a:xfrm>
            <a:off x="808661" y="2213154"/>
            <a:ext cx="10293524" cy="2431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Imbalance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Mitigated using oversampling and under sampling techniques.</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Overfitting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Resolved through cross-validation and regularization methods.</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Computational Resources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efficient libraries and cloud-based solutions for large-scale computations. </a:t>
            </a:r>
          </a:p>
        </p:txBody>
      </p:sp>
    </p:spTree>
    <p:extLst>
      <p:ext uri="{BB962C8B-B14F-4D97-AF65-F5344CB8AC3E}">
        <p14:creationId xmlns:p14="http://schemas.microsoft.com/office/powerpoint/2010/main" val="3348424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6490-A7C4-4512-C012-8BB604659328}"/>
              </a:ext>
            </a:extLst>
          </p:cNvPr>
          <p:cNvSpPr>
            <a:spLocks noGrp="1"/>
          </p:cNvSpPr>
          <p:nvPr>
            <p:ph type="title"/>
          </p:nvPr>
        </p:nvSpPr>
        <p:spPr>
          <a:xfrm>
            <a:off x="921819" y="620764"/>
            <a:ext cx="10357666" cy="1438450"/>
          </a:xfrm>
        </p:spPr>
        <p:txBody>
          <a:bodyPr/>
          <a:lstStyle/>
          <a:p>
            <a:r>
              <a:rPr lang="en-US"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25C8E40F-0A2E-036C-B856-6932E784D44A}"/>
              </a:ext>
            </a:extLst>
          </p:cNvPr>
          <p:cNvSpPr>
            <a:spLocks noGrp="1" noChangeArrowheads="1"/>
          </p:cNvSpPr>
          <p:nvPr>
            <p:ph idx="1"/>
          </p:nvPr>
        </p:nvSpPr>
        <p:spPr bwMode="auto">
          <a:xfrm>
            <a:off x="912515" y="1807847"/>
            <a:ext cx="10149958" cy="326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study demonstrates the potential of machine learning in classifying hazardous asteroids.</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and DNN models achieved the highest accuracy and reliability.</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findings contribute to the development of advanced asteroid detection systems, aiding global safety. </a:t>
            </a:r>
          </a:p>
        </p:txBody>
      </p:sp>
    </p:spTree>
    <p:extLst>
      <p:ext uri="{BB962C8B-B14F-4D97-AF65-F5344CB8AC3E}">
        <p14:creationId xmlns:p14="http://schemas.microsoft.com/office/powerpoint/2010/main" val="1864842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26370-988C-7985-6669-3A40D963C78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Future Work</a:t>
            </a:r>
          </a:p>
        </p:txBody>
      </p:sp>
      <p:sp>
        <p:nvSpPr>
          <p:cNvPr id="4" name="Rectangle 1">
            <a:extLst>
              <a:ext uri="{FF2B5EF4-FFF2-40B4-BE49-F238E27FC236}">
                <a16:creationId xmlns:a16="http://schemas.microsoft.com/office/drawing/2014/main" id="{D1C0FB07-185B-D2ED-7BCD-6DEE0EB9C264}"/>
              </a:ext>
            </a:extLst>
          </p:cNvPr>
          <p:cNvSpPr>
            <a:spLocks noGrp="1" noChangeArrowheads="1"/>
          </p:cNvSpPr>
          <p:nvPr>
            <p:ph idx="1"/>
          </p:nvPr>
        </p:nvSpPr>
        <p:spPr bwMode="auto">
          <a:xfrm>
            <a:off x="808661" y="1797656"/>
            <a:ext cx="8234947" cy="326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 dataset size for better model training.</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Incorporate advanced techniques like reinforcement learning for real-time predictions.</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Collaborate with organizations like NASA for live data integration and application. </a:t>
            </a:r>
          </a:p>
        </p:txBody>
      </p:sp>
    </p:spTree>
    <p:extLst>
      <p:ext uri="{BB962C8B-B14F-4D97-AF65-F5344CB8AC3E}">
        <p14:creationId xmlns:p14="http://schemas.microsoft.com/office/powerpoint/2010/main" val="3549766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F0C817C9-850F-4FB6-B93B-CF3076C4A5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67782" cy="3306479"/>
            <a:chOff x="11619770" y="-2005"/>
            <a:chExt cx="567782" cy="3306479"/>
          </a:xfrm>
        </p:grpSpPr>
        <p:sp>
          <p:nvSpPr>
            <p:cNvPr id="24" name="Freeform: Shape 23">
              <a:extLst>
                <a:ext uri="{FF2B5EF4-FFF2-40B4-BE49-F238E27FC236}">
                  <a16:creationId xmlns:a16="http://schemas.microsoft.com/office/drawing/2014/main" id="{159433A8-B67D-4675-AFDE-131069A70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Rectangle 24">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26" name="Rectangle 25">
            <a:extLst>
              <a:ext uri="{FF2B5EF4-FFF2-40B4-BE49-F238E27FC236}">
                <a16:creationId xmlns:a16="http://schemas.microsoft.com/office/drawing/2014/main" id="{FFC321AD-2C92-446F-AF58-8CAA634BF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EA855B9-EE27-4441-846C-35DF1C648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erial view of a highway near the ocean">
            <a:extLst>
              <a:ext uri="{FF2B5EF4-FFF2-40B4-BE49-F238E27FC236}">
                <a16:creationId xmlns:a16="http://schemas.microsoft.com/office/drawing/2014/main" id="{7A9E22F0-8B00-7326-A3DB-3700B79CA6A5}"/>
              </a:ext>
            </a:extLst>
          </p:cNvPr>
          <p:cNvPicPr>
            <a:picLocks noChangeAspect="1"/>
          </p:cNvPicPr>
          <p:nvPr/>
        </p:nvPicPr>
        <p:blipFill>
          <a:blip r:embed="rId4">
            <a:alphaModFix amt="50000"/>
          </a:blip>
          <a:srcRect t="11833" b="13167"/>
          <a:stretch/>
        </p:blipFill>
        <p:spPr>
          <a:xfrm>
            <a:off x="20" y="10"/>
            <a:ext cx="12191979" cy="6857989"/>
          </a:xfrm>
          <a:prstGeom prst="rect">
            <a:avLst/>
          </a:prstGeom>
        </p:spPr>
      </p:pic>
      <p:sp>
        <p:nvSpPr>
          <p:cNvPr id="2" name="Title 1">
            <a:extLst>
              <a:ext uri="{FF2B5EF4-FFF2-40B4-BE49-F238E27FC236}">
                <a16:creationId xmlns:a16="http://schemas.microsoft.com/office/drawing/2014/main" id="{E28CE441-0366-7C51-39F5-9B3061133AE1}"/>
              </a:ext>
            </a:extLst>
          </p:cNvPr>
          <p:cNvSpPr>
            <a:spLocks noGrp="1"/>
          </p:cNvSpPr>
          <p:nvPr>
            <p:ph type="title"/>
          </p:nvPr>
        </p:nvSpPr>
        <p:spPr>
          <a:xfrm>
            <a:off x="4785349" y="2461272"/>
            <a:ext cx="7279885" cy="2852928"/>
          </a:xfrm>
        </p:spPr>
        <p:txBody>
          <a:bodyPr vert="horz" lIns="91440" tIns="45720" rIns="91440" bIns="45720" rtlCol="0" anchor="b">
            <a:normAutofit/>
          </a:bodyPr>
          <a:lstStyle/>
          <a:p>
            <a:pPr algn="r">
              <a:lnSpc>
                <a:spcPct val="130000"/>
              </a:lnSpc>
            </a:pPr>
            <a:r>
              <a:rPr lang="en-US" sz="3600" b="1" spc="1300" dirty="0">
                <a:solidFill>
                  <a:schemeClr val="bg1"/>
                </a:solidFill>
                <a:latin typeface="Times New Roman" panose="02020603050405020304" pitchFamily="18" charset="0"/>
                <a:cs typeface="Times New Roman" panose="02020603050405020304" pitchFamily="18" charset="0"/>
              </a:rPr>
              <a:t>Thank You</a:t>
            </a:r>
            <a:br>
              <a:rPr lang="en-US" sz="3600" b="1" spc="1300" dirty="0">
                <a:solidFill>
                  <a:schemeClr val="bg1"/>
                </a:solidFill>
                <a:latin typeface="Times New Roman" panose="02020603050405020304" pitchFamily="18" charset="0"/>
                <a:cs typeface="Times New Roman" panose="02020603050405020304" pitchFamily="18" charset="0"/>
              </a:rPr>
            </a:br>
            <a:endParaRPr lang="en-US" sz="3600" b="1" spc="1300" dirty="0">
              <a:solidFill>
                <a:schemeClr val="bg1"/>
              </a:solidFill>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2BF5D4DB-368A-4B23-81E4-E0454BAD8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53" y="322803"/>
            <a:ext cx="642729" cy="2930667"/>
          </a:xfrm>
          <a:prstGeom prst="rect">
            <a:avLst/>
          </a:prstGeom>
          <a:blipFill dpi="0" rotWithShape="1">
            <a:blip r:embed="rId5">
              <a:alphaModFix amt="99000"/>
              <a:extLst>
                <a:ext uri="{96DAC541-7B7A-43D3-8B79-37D633B846F1}">
                  <asvg:svgBlip xmlns:asvg="http://schemas.microsoft.com/office/drawing/2016/SVG/main" r:embed="rId6"/>
                </a:ext>
              </a:extLst>
            </a:blip>
            <a:srcRect/>
            <a:tile tx="0" ty="0" sx="6000" sy="6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372D7B9-36D5-4C1F-B7C9-36717C28F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5883684"/>
      </p:ext>
    </p:extLst>
  </p:cSld>
  <p:clrMapOvr>
    <a:masterClrMapping/>
  </p:clrMapOvr>
</p:sld>
</file>

<file path=ppt/theme/theme1.xml><?xml version="1.0" encoding="utf-8"?>
<a:theme xmlns:a="http://schemas.openxmlformats.org/drawingml/2006/main" name="VeniceBeachVTI">
  <a:themeElements>
    <a:clrScheme name="Office">
      <a:dk1>
        <a:srgbClr val="000000"/>
      </a:dk1>
      <a:lt1>
        <a:srgbClr val="FFFFFF"/>
      </a:lt1>
      <a:dk2>
        <a:srgbClr val="1D242E"/>
      </a:dk2>
      <a:lt2>
        <a:srgbClr val="F2F1F1"/>
      </a:lt2>
      <a:accent1>
        <a:srgbClr val="4472C4"/>
      </a:accent1>
      <a:accent2>
        <a:srgbClr val="ED7D31"/>
      </a:accent2>
      <a:accent3>
        <a:srgbClr val="A3A3A3"/>
      </a:accent3>
      <a:accent4>
        <a:srgbClr val="CF9B00"/>
      </a:accent4>
      <a:accent5>
        <a:srgbClr val="5B9BD5"/>
      </a:accent5>
      <a:accent6>
        <a:srgbClr val="70AD47"/>
      </a:accent6>
      <a:hlink>
        <a:srgbClr val="D26012"/>
      </a:hlink>
      <a:folHlink>
        <a:srgbClr val="9A5879"/>
      </a:folHlink>
    </a:clrScheme>
    <a:fontScheme name="Avenir 1">
      <a:majorFont>
        <a:latin typeface="Avenir Next LT Pro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69839BBA-F383-4FFD-B56A-E36ACE43E09D}" vid="{060D2740-A69C-444A-B833-E03D333ADDA7}"/>
    </a:ext>
  </a:extLst>
</a:theme>
</file>

<file path=docProps/app.xml><?xml version="1.0" encoding="utf-8"?>
<Properties xmlns="http://schemas.openxmlformats.org/officeDocument/2006/extended-properties" xmlns:vt="http://schemas.openxmlformats.org/officeDocument/2006/docPropsVTypes">
  <Template>TM02900769[[fn=Retrospect]]</Template>
  <TotalTime>65</TotalTime>
  <Words>1164</Words>
  <Application>Microsoft Office PowerPoint</Application>
  <PresentationFormat>Widescreen</PresentationFormat>
  <Paragraphs>95</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Avenir Next LT Pro</vt:lpstr>
      <vt:lpstr>Avenir Next LT Pro Light</vt:lpstr>
      <vt:lpstr>Tex Gyre Termes Bold</vt:lpstr>
      <vt:lpstr>Times New Roman</vt:lpstr>
      <vt:lpstr>VeniceBeachVTI</vt:lpstr>
      <vt:lpstr>Hazardous Asteroid prediction using ML models </vt:lpstr>
      <vt:lpstr>Contents</vt:lpstr>
      <vt:lpstr>Abstract</vt:lpstr>
      <vt:lpstr>Introduction</vt:lpstr>
      <vt:lpstr>Objectives</vt:lpstr>
      <vt:lpstr>Literature review</vt:lpstr>
      <vt:lpstr>Challenges in Existing System</vt:lpstr>
      <vt:lpstr>Proposed Methodology</vt:lpstr>
      <vt:lpstr>System Architecture</vt:lpstr>
      <vt:lpstr>Dataset Description</vt:lpstr>
      <vt:lpstr>Machine Learning Models</vt:lpstr>
      <vt:lpstr>Implementation Process</vt:lpstr>
      <vt:lpstr>Results and Analysis</vt:lpstr>
      <vt:lpstr>Challenges Faced</vt:lpstr>
      <vt:lpstr>Conclusion</vt:lpstr>
      <vt:lpstr>Future Work</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vishanth reddy</dc:creator>
  <cp:lastModifiedBy>vishanth reddy</cp:lastModifiedBy>
  <cp:revision>1</cp:revision>
  <dcterms:created xsi:type="dcterms:W3CDTF">2024-12-10T05:08:22Z</dcterms:created>
  <dcterms:modified xsi:type="dcterms:W3CDTF">2024-12-10T06:13:31Z</dcterms:modified>
</cp:coreProperties>
</file>